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hpgx.com/html/" TargetMode="External"/><Relationship Id="rId2" Type="http://schemas.openxmlformats.org/officeDocument/2006/relationships/hyperlink" Target="https://www.shpgx.com/html/" TargetMode="External"/><Relationship Id="rId3" Type="http://schemas.openxmlformats.org/officeDocument/2006/relationships/hyperlink" Target="https://www.westcoal.com.cn/" TargetMode="External"/><Relationship Id="rId4" Type="http://schemas.openxmlformats.org/officeDocument/2006/relationships/hyperlink" Target="https://www.westcoal.com.cn/" TargetMode="External"/><Relationship Id="rId5" Type="http://schemas.openxmlformats.org/officeDocument/2006/relationships/hyperlink" Target="https://www.kmpex.com/portal/#/home" TargetMode="External"/><Relationship Id="rId6" Type="http://schemas.openxmlformats.org/officeDocument/2006/relationships/hyperlink" Target="https://www.kmpex.com/portal/#/home" TargetMode="External"/><Relationship Id="rId7" Type="http://schemas.openxmlformats.org/officeDocument/2006/relationships/hyperlink" Target="https://www.xjhzjyw.com/" TargetMode="External"/><Relationship Id="rId8" Type="http://schemas.openxmlformats.org/officeDocument/2006/relationships/hyperlink" Target="https://www.xjhzjyw.com/" TargetMode="External"/><Relationship Id="rId9" Type="http://schemas.openxmlformats.org/officeDocument/2006/relationships/hyperlink" Target="https://e.hncitc.com/" TargetMode="External"/><Relationship Id="rId10" Type="http://schemas.openxmlformats.org/officeDocument/2006/relationships/hyperlink" Target="https://e.hncitc.com/" TargetMode="External"/><Relationship Id="rId11" Type="http://schemas.openxmlformats.org/officeDocument/2006/relationships/hyperlink" Target="https://www.alcqz.com/" TargetMode="External"/><Relationship Id="rId12" Type="http://schemas.openxmlformats.org/officeDocument/2006/relationships/hyperlink" Target="https://www.alcqz.com/" TargetMode="External"/><Relationship Id="rId13" Type="http://schemas.openxmlformats.org/officeDocument/2006/relationships/hyperlink" Target="http://119.3.239.91:9191/" TargetMode="External"/><Relationship Id="rId14" Type="http://schemas.openxmlformats.org/officeDocument/2006/relationships/hyperlink" Target="http://119.3.239.91:9191/" TargetMode="External"/><Relationship Id="rId15" Type="http://schemas.openxmlformats.org/officeDocument/2006/relationships/hyperlink" Target="https://www.gzcmex.com/" TargetMode="External"/><Relationship Id="rId16" Type="http://schemas.openxmlformats.org/officeDocument/2006/relationships/hyperlink" Target="https://www.gzcmex.com/" TargetMode="External"/><Relationship Id="rId17" Type="http://schemas.openxmlformats.org/officeDocument/2006/relationships/hyperlink" Target="https://otc.czce.com.cn/#/home" TargetMode="External"/><Relationship Id="rId18" Type="http://schemas.openxmlformats.org/officeDocument/2006/relationships/hyperlink" Target="https://otc.czce.com.cn/#/home" TargetMode="External"/><Relationship Id="rId19" Type="http://schemas.openxmlformats.org/officeDocument/2006/relationships/hyperlink" Target="http://1.95.89.254:7370/" TargetMode="External"/><Relationship Id="rId20" Type="http://schemas.openxmlformats.org/officeDocument/2006/relationships/hyperlink" Target="http://1.95.89.254:7370/" TargetMode="External"/><Relationship Id="rId21" Type="http://schemas.openxmlformats.org/officeDocument/2006/relationships/hyperlink" Target="https://www.zgdmly.com/home" TargetMode="External"/><Relationship Id="rId22" Type="http://schemas.openxmlformats.org/officeDocument/2006/relationships/hyperlink" Target="https://www.zgdmly.com/home" TargetMode="External"/><Relationship Id="rId23" Type="http://schemas.openxmlformats.org/officeDocument/2006/relationships/hyperlink" Target="https://campe.cn/" TargetMode="External"/><Relationship Id="rId24" Type="http://schemas.openxmlformats.org/officeDocument/2006/relationships/hyperlink" Target="https://campe.cn/" TargetMode="External"/><Relationship Id="rId25" Type="http://schemas.openxmlformats.org/officeDocument/2006/relationships/hyperlink" Target="https://www.cnpoli.com/" TargetMode="External"/><Relationship Id="rId26" Type="http://schemas.openxmlformats.org/officeDocument/2006/relationships/hyperlink" Target="https://www.cnpoli.com/" TargetMode="External"/><Relationship Id="rId27" Type="http://schemas.openxmlformats.org/officeDocument/2006/relationships/hyperlink" Target="http://1.95.189.122:9390/" TargetMode="External"/><Relationship Id="rId28" Type="http://schemas.openxmlformats.org/officeDocument/2006/relationships/hyperlink" Target="http://1.95.189.122:9390/" TargetMode="External"/><Relationship Id="rId29" Type="http://schemas.openxmlformats.org/officeDocument/2006/relationships/hyperlink" Target="https://www.bbwcec.com/" TargetMode="External"/><Relationship Id="rId30" Type="http://schemas.openxmlformats.org/officeDocument/2006/relationships/hyperlink" Target="https://www.bbwcec.com/" TargetMode="External"/><Relationship Id="rId31" Type="http://schemas.openxmlformats.org/officeDocument/2006/relationships/hyperlink" Target="https://hongdian168.com/" TargetMode="External"/><Relationship Id="rId32" Type="http://schemas.openxmlformats.org/officeDocument/2006/relationships/hyperlink" Target="https://hongdian168.com/" TargetMode="External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hpgx.com/html/" TargetMode="External"/><Relationship Id="rId2" Type="http://schemas.openxmlformats.org/officeDocument/2006/relationships/hyperlink" Target="https://www.shpgx.com/html/" TargetMode="External"/><Relationship Id="rId3" Type="http://schemas.openxmlformats.org/officeDocument/2006/relationships/hyperlink" Target="https://www.westcoal.com.cn/" TargetMode="External"/><Relationship Id="rId4" Type="http://schemas.openxmlformats.org/officeDocument/2006/relationships/hyperlink" Target="https://www.westcoal.com.cn/" TargetMode="External"/><Relationship Id="rId5" Type="http://schemas.openxmlformats.org/officeDocument/2006/relationships/hyperlink" Target="https://www.kmpex.com/portal/#/home" TargetMode="External"/><Relationship Id="rId6" Type="http://schemas.openxmlformats.org/officeDocument/2006/relationships/hyperlink" Target="https://www.kmpex.com/portal/#/home" TargetMode="External"/><Relationship Id="rId7" Type="http://schemas.openxmlformats.org/officeDocument/2006/relationships/hyperlink" Target="https://www.xjhzjyw.com/" TargetMode="External"/><Relationship Id="rId8" Type="http://schemas.openxmlformats.org/officeDocument/2006/relationships/hyperlink" Target="https://www.xjhzjyw.com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e.hncitc.com/" TargetMode="External"/><Relationship Id="rId2" Type="http://schemas.openxmlformats.org/officeDocument/2006/relationships/hyperlink" Target="https://e.hncitc.com/" TargetMode="External"/><Relationship Id="rId3" Type="http://schemas.openxmlformats.org/officeDocument/2006/relationships/hyperlink" Target="https://www.alcqz.com/" TargetMode="External"/><Relationship Id="rId4" Type="http://schemas.openxmlformats.org/officeDocument/2006/relationships/hyperlink" Target="https://www.alcqz.com/" TargetMode="External"/><Relationship Id="rId5" Type="http://schemas.openxmlformats.org/officeDocument/2006/relationships/hyperlink" Target="http://119.3.239.91:9191/" TargetMode="External"/><Relationship Id="rId6" Type="http://schemas.openxmlformats.org/officeDocument/2006/relationships/hyperlink" Target="http://119.3.239.91:9191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zcmex.com/" TargetMode="External"/><Relationship Id="rId2" Type="http://schemas.openxmlformats.org/officeDocument/2006/relationships/hyperlink" Target="https://www.gzcmex.com/" TargetMode="External"/><Relationship Id="rId3" Type="http://schemas.openxmlformats.org/officeDocument/2006/relationships/hyperlink" Target="https://otc.czce.com.cn/#/home" TargetMode="External"/><Relationship Id="rId4" Type="http://schemas.openxmlformats.org/officeDocument/2006/relationships/hyperlink" Target="https://otc.czce.com.cn/#/home" TargetMode="External"/><Relationship Id="rId5" Type="http://schemas.openxmlformats.org/officeDocument/2006/relationships/hyperlink" Target="http://1.95.89.254:7370/" TargetMode="External"/><Relationship Id="rId6" Type="http://schemas.openxmlformats.org/officeDocument/2006/relationships/hyperlink" Target="http://1.95.89.254:7370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zgdmly.com/home" TargetMode="External"/><Relationship Id="rId2" Type="http://schemas.openxmlformats.org/officeDocument/2006/relationships/hyperlink" Target="https://www.zgdmly.com/home" TargetMode="External"/><Relationship Id="rId3" Type="http://schemas.openxmlformats.org/officeDocument/2006/relationships/hyperlink" Target="https://campe.cn/" TargetMode="External"/><Relationship Id="rId4" Type="http://schemas.openxmlformats.org/officeDocument/2006/relationships/hyperlink" Target="https://campe.cn/" TargetMode="External"/><Relationship Id="rId5" Type="http://schemas.openxmlformats.org/officeDocument/2006/relationships/hyperlink" Target="https://www.cnpoli.com/" TargetMode="External"/><Relationship Id="rId6" Type="http://schemas.openxmlformats.org/officeDocument/2006/relationships/hyperlink" Target="https://www.cnpoli.com/" TargetMode="External"/><Relationship Id="rId7" Type="http://schemas.openxmlformats.org/officeDocument/2006/relationships/hyperlink" Target="http://1.95.189.122:9390/" TargetMode="External"/><Relationship Id="rId8" Type="http://schemas.openxmlformats.org/officeDocument/2006/relationships/hyperlink" Target="http://1.95.189.122:9390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bwcec.com/" TargetMode="External"/><Relationship Id="rId2" Type="http://schemas.openxmlformats.org/officeDocument/2006/relationships/hyperlink" Target="https://www.bbwcec.com/" TargetMode="External"/><Relationship Id="rId3" Type="http://schemas.openxmlformats.org/officeDocument/2006/relationships/hyperlink" Target="https://hongdian168.com/" TargetMode="External"/><Relationship Id="rId4" Type="http://schemas.openxmlformats.org/officeDocument/2006/relationships/hyperlink" Target="https://hongdian168.com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994392" y="4663440"/>
            <a:ext cx="310896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46304" cy="2377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91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大宗商品交易供应链平台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207008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服务客户案例集 · 正式环境访问入口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34290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E"/>
                </a:solidFill>
              </a:rPr>
              <a:t>面向能源、煤炭、金属、农产品、港务等大宗商品行业的交易撮合与供应链协同平台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5"/>
                </a:solidFill>
              </a:rPr>
              <a:t>内部资料 · 2026.07 · 仅含正式生产环境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785"/>
                </a:solidFill>
              </a:rPr>
              <a:t>为大宗商品交易场所与产业客户提供一站式数字化基础设施，覆盖从交易到履约的全链路。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514600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交易撮合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977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挂牌 / 竞价 / 撮合引擎，多品种大宗商品支持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71216" y="2148840"/>
            <a:ext cx="21214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514600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62656" y="3474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供应链协同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35808" y="3977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合同、物流、仓储、结算一体化管理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93792" y="2148840"/>
            <a:ext cx="21214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2514600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870448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285232" y="3474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风控与结算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58384" y="3977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履约保证、资金清算、风险监控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16368" y="2148840"/>
            <a:ext cx="21214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3024" y="2514600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193024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07808" y="3474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0" y="3977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行情、指数、大屏可视化分析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38944" y="2148840"/>
            <a:ext cx="212140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0" y="2514600"/>
            <a:ext cx="768096" cy="7680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2514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43"/>
                </a:solidFill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930384" y="34747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生态对接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03536" y="3977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银行 / 物流 / 税务 / CA 等外部系统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服务客户一览（正式环境）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以下为平台已服务的正式生产环境客户及其访问入口，点击链接可直接跳转。共 16 家。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465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上海石油天然气交易中心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（能源与化工）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2039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https://www.shpgx.com/html/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350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陕西煤炭交易中心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（能源与化工）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26426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https://www.westcoal.com.cn/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53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昆明电力交易中心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（能源与化工）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https://www.kmpex.com/portal/#/home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685032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新疆汇宗大宗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（能源与化工）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3849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https://www.xjhzjyw.com/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河南煤炭交易中心（豫煤交易）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（煤炭与矿产）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4453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https://e.hncitc.com/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7640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贵州清镇 · 富矿精开（清铝集采）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（煤炭与矿产）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6112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https://www.alcqz.com/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49554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367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河南国龙 · 中原云商 / 数字产业链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（煤炭与矿产）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6112" y="5660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http://119.3.239.91:9191/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60990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5971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广州商品交易所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（金属与综合大宗）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https://www.gzcmex.com/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18745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17465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郑州商品交易所 · 场外业务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（金属与综合大宗）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11112" y="2039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https://otc.czce.com.cn/#/home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247802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2350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郑州航空港 · 大宗商品物流贸易服务平台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（金属与综合大宗）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11112" y="26426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http://1.95.89.254:7370/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55080" y="308152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2953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中国林产品交易中心（广西林控）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（农产品 · 食品 · 林产品）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11112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https://www.zgdmly.com/home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3685032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福建东盟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（农产品 · 食品 · 林产品）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611112" y="3849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https://campe.cn/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55080" y="4288536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661111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广西晔龙 · 粕力科技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（农产品 · 食品 · 林产品）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611112" y="4453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https://www.cnpoli.com/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489204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6611112" y="47640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天津肉安网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（农产品 · 食品 · 林产品）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611112" y="5056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http://1.95.189.122:9390/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5495544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6611112" y="5367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广西北部湾大宗商品交易中心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（港务与供应链服务）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611112" y="5660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https://www.bbwcec.com/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6099048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6611112" y="5971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深圳虹点  </a:t>
            </a:r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（港务与供应链服务）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611112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https://hongdian168.com/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能源与化工 · 服务客户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共 4 家 · 正式生产环境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上海石油天然气交易中心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459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能源 · 石油化工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752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石化能源现货挂牌与竞价交易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136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https://www.shpgx.com/html/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830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476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陕西煤炭交易中心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459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煤炭 · 能源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752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煤炭产运需在线交易与供应链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136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https://www.westcoal.com.cn/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404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昆明电力交易中心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4517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电力 · 能源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电力市场化交易与绿电绿证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193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https://www.kmpex.com/portal/#/home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8404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新疆汇宗大宗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83680" y="4517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大宗商品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疆煤外运与大宗现货交易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5193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https://www.xjhzjyw.com/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煤炭与矿产 · 服务客户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共 3 家 · 正式生产环境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河南煤炭交易中心（豫煤交易）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煤炭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河南省属煤炭统一上线交易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https://e.hncitc.com/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贵州清镇 · 富矿精开（清铝集采）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0916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矿产 · 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铝土矿集采与内销备案管理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https://www.alcqz.com/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河南国龙 · 中原云商 / 数字产业链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4964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煤炭 · 供应链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中原地区大宗商品供应链协同平台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http://119.3.239.91:9191/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金属与综合大宗 · 服务客户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共 3 家 · 正式生产环境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广州商品交易所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综合 · 金属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工业金属与化工品现货交易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https://www.gzcmex.com/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郑州商品交易所 · 场外业务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0916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农产品 · 综合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场外衍生品与仓单交易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https://otc.czce.com.cn/#/home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192024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92024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郑州航空港 · 大宗商品物流贸易服务平台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49640" y="2596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物流 · 贸易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空港型大宗商品物流贸易一体化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3913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http://1.95.89.254:7370/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农产品 · 食品 · 林产品 · 服务客户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共 4 家 · 正式生产环境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中国林产品交易中心（广西林控）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459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林产品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752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木材木制品现货与供应链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136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https://www.zgdmly.com/home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7830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476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福建东盟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459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农产品 · 进出口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752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东盟农产品跨境大宗交易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136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https://campe.cn/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404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广西晔龙 · 粕力科技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4517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农产品 · 饲料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豆粕菜粕等饲料原料交易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193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https://www.cnpoli.com/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3840480"/>
            <a:ext cx="118872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天津肉安网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83680" y="4517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食品 · 安全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肉类食品安全溯源供应链平台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5193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http://1.95.189.122:9390/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港务与供应链服务 · 服务客户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共 2 家 · 正式生产环境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广西北部湾大宗商品交易中心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79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港务 · 大宗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北部湾港口大宗现货与数据大屏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096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https://www.bbwcec.com/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03120"/>
            <a:ext cx="118872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67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u="sng" dirty="0">
                <a:solidFill>
                  <a:srgbClr val="0F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深圳虹点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779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供应链服务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3"/>
                </a:solidFill>
              </a:rPr>
              <a:t>电子元器件供应链协同服务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096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u="sng" dirty="0">
                <a:solidFill>
                  <a:srgbClr val="0E7C9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https://hongdian168.com/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B2B 大宗商品交易供应链平台 · 服务客户案例集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914400"/>
            <a:ext cx="3108960" cy="3108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94560"/>
            <a:ext cx="146304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携手共建大宗商品产业互联网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07008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3DE"/>
                </a:solidFill>
              </a:rPr>
              <a:t>以稳定、合规、可扩展的平台能力，支撑更多产业客户实现交易数字化与供应链协同。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5"/>
                </a:solidFill>
              </a:rPr>
              <a:t>B2B 大宗商品交易供应链平台 · 交付团队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大宗商品交易供应链平台 · 服务客户案例集</dc:title>
  <dc:subject>PptxGenJS Presentation</dc:subject>
  <dc:creator>B2B 平台交付团队</dc:creator>
  <cp:lastModifiedBy>B2B 平台交付团队</cp:lastModifiedBy>
  <cp:revision>1</cp:revision>
  <dcterms:created xsi:type="dcterms:W3CDTF">2026-07-25T01:10:56Z</dcterms:created>
  <dcterms:modified xsi:type="dcterms:W3CDTF">2026-07-25T01:10:56Z</dcterms:modified>
</cp:coreProperties>
</file>