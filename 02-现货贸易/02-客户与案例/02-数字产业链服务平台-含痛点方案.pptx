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1828800"/>
            <a:ext cx="10058400" cy="1005840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57200"/>
            <a:ext cx="6400800" cy="6400800"/>
          </a:xfrm>
          <a:prstGeom prst="ellipse">
            <a:avLst/>
          </a:prstGeom>
          <a:solidFill>
            <a:srgbClr val="08295A"/>
          </a:solidFill>
          <a:ln w="12700">
            <a:solidFill>
              <a:srgbClr val="082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48495" y="548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郑大 D03 交易平台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0" y="28346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数字产业链服务平台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D0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系统汇报 · 全景展示 · 价值呈现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0" y="457200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汇报单位：郑州大宗商品信息技术有限公司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汇报日期：2026 年 7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BF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0" y="457200"/>
            <a:ext cx="411480" cy="4114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493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行业痛点与解决方案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0" y="530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前言 · Pain Points &amp; Solutions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996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0" y="1033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Platform Overview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499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平台亮点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· Platform Highlights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6596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002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开户注册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 · Account Registration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46888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交易登录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· Trading Login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97180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008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交易业务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61120" y="3044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 · Trading Business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511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交收办理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 · Delivery &amp; Settlement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97764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4014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资金结算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07 · Fund Settlement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48056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20640" y="4517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风险管控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961120" y="4553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08 · Risk Control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498348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20640" y="5020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961120" y="5056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09 · Warehouse Service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548640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20640" y="55229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961120" y="5559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10 · Supply Chain Finance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5989320"/>
            <a:ext cx="411480" cy="4114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5989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20640" y="60258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961120" y="6062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11 · AI Empowerment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362895" y="274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0" y="66019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数字产业链服务平台 · 全量章节概览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行业痛点与解决方案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 &amp; Solutions · B2B 大宗商品交易场景背景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00 · 行业痛点与解决方案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 大宗商品交易的七大核心痛点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大宗商品具金额大、周期长、价格波动剧烈、物流仓储重资产等特征；传统线下模式难以支撑"商流、物流、资金流、信息流"四流合一，由此衍生系统性痛点。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供应链信息不对称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报价靠人脉圈子，行情滞后，上下游库存/产能不可见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6524" y="17830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6524" y="17830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9404" y="1920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交易流程复杂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59404" y="23317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询价→签约→履约全靠人工，合同非标、协同断点多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5848" y="17830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17830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8728" y="1920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资金周转压力大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8728" y="23317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占款周期长，中小企融资难，结算对账手工低效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171" y="17830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171" y="17830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051" y="19202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价格波动风险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98051" y="23317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长周期敞口裸露，缺乏对冲工具，单边赌行情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832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5204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物流追踪困难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货权与实物脱节，在途黑盒，仓单真假/重复质押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76524" y="33832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6524" y="33832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9404" y="35204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质量标准不统一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59404" y="39319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规格差异大，验收主观，质检报告互不互通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5848" y="3383280"/>
            <a:ext cx="268216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5848" y="3383280"/>
            <a:ext cx="73152" cy="14173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8728" y="352044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信任机制缺失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78728" y="3931920"/>
            <a:ext cx="23164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陌生交易怕违约，信用无积累，纠纷取证难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11277295" cy="8229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800600"/>
            <a:ext cx="73152" cy="8229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补充痛点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523036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除以上七大核心痛点外，平台同样回应"履约保障弱"（违约成本低）与"合规税务断点"（四流不一致引发税务风险）两点。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66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00 · 行业痛点与解决方案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痛点与系统解决方案一一对应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平台以"在线交易 + 履约保证 + 仓储交收 + 结算金融 + 数据 AI"为底座，对每一项行业痛点均给出对应解法。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行业痛点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系统解决方案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核心模块 / 功能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供应链信息不对称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公开撮合 + 产业数据中心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挂牌/竞价、行情中心、数据服务、AI 洞察、多端协同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交易流程复杂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大模式 + 标准化工作台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挂牌/竞价/点价/基差/套保/代采/谈判、电子合同、规则配置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资金周转压力大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供应链金融 + 自动结算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代采垫资、应收融资、履约保证金、在线清分对账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价格波动风险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 / 基差 / 套保三件套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点价、基差、套保模式、风险管控预警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物流追踪困难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仓储 + 交收 + 物流可视化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仓储服务、交收办理、物流追踪、电子仓单确权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质量标准不统一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标准合约 + 质检闭环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合约模板、质检验收、报告互通、争议仲裁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信任机制缺失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履约保证 + 信用体系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保证金/履约险、企业认证、信用分、存证追溯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66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00 · 行业痛点与解决方案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七大解决方案机制详解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下列机制均映射到平台已落地的真实能力，而非泛泛而谈。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2103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2682164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37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信息透明化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挂牌/竞价公开撮合；统一行情中心；AI 行情洞察；PC/移动/管理三端协同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76524" y="1737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6524" y="1737360"/>
            <a:ext cx="73152" cy="2103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6524" y="1737360"/>
            <a:ext cx="268216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9404" y="1737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流程线上化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9404" y="2331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大交易模式覆盖全场景；电子合同/协议；一站式交易工作台；规则可配置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95848" y="1737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1737360"/>
            <a:ext cx="73152" cy="2103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1737360"/>
            <a:ext cx="26821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1737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资金优化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28" y="2331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代采垫资、应收/订单融资；履约保证金替代全款预付；在线结算自动对账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15171" y="1737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171" y="173736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171" y="1737360"/>
            <a:ext cx="26821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051" y="1737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价格对冲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98051" y="2331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点价择时定价；基差报价；产融套保联动；风险敞口实时监控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23360"/>
            <a:ext cx="73152" cy="2103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23360"/>
            <a:ext cx="26821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23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物流可视化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617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仓储服务；交收办理；物流轨迹实时回传；电子仓单确权防重复质押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76524" y="4023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76524" y="4023360"/>
            <a:ext cx="73152" cy="21031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76524" y="4023360"/>
            <a:ext cx="2682164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9404" y="4023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质量统一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59404" y="4617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标准合约模板锁定条款；质检验收闭环；报告平台互通；争议自动仲裁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95848" y="4023360"/>
            <a:ext cx="268216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5848" y="4023360"/>
            <a:ext cx="73152" cy="2103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5848" y="4023360"/>
            <a:ext cx="2682164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8728" y="402336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信任构建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78728" y="4617720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履约保证金+履约险；企业实名/资质认证；信用体系累积；关键操作存证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66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00 · 行业痛点与解决方案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方案落地的四大能力底座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上述解决方案并非孤立功能，而是建立在平台的四大能力底座之上，确保可落地、可扩展、可验证。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557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2103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455768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3736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交易模式引擎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499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挂牌/竞价/点价/基差/套保/代采/谈判等 7 大模式可独立或组合，覆盖现货到期现联动全场景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5848" y="1737360"/>
            <a:ext cx="54557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1737360"/>
            <a:ext cx="73152" cy="21031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1737360"/>
            <a:ext cx="5455768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173736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履约与信用体系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2377440"/>
            <a:ext cx="499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 + 履约险构建信任；企业认证 + 信用分让信用跨交易累积；关键操作存证可追溯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54557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6908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69080"/>
            <a:ext cx="545576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6908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 AI 底座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709160"/>
            <a:ext cx="499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数据中心汇聚行情/产业数据；风险管控实时监控；AI 嵌入交易/合同/风控全流程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95848" y="4069080"/>
            <a:ext cx="54557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5848" y="4069080"/>
            <a:ext cx="73152" cy="2103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4069080"/>
            <a:ext cx="545576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4448" y="406908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生态与架构支撑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4448" y="4709160"/>
            <a:ext cx="49985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对接银行/物流/期货/税务/认证等 9+ 外部接口；C 语言撮合核心 + Java 微服务中台保障性能与稳定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66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00 · 行业痛点与解决方案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价值总结 · 四流合一与三方收益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以在线交易汇集商流与信息流 → 以履约保证+信用构建信任 → 以仓储交收贯通物流 → 以结算+金融疏通资金流 → 以数据/AI 反哺决策。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821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2682164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在线交易汇聚买卖双边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7652" y="242316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5084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22244" y="1828800"/>
            <a:ext cx="26821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2244" y="1828800"/>
            <a:ext cx="73152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2244" y="1828800"/>
            <a:ext cx="2682164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2244" y="182880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59404" y="233172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行情/数据/AI 实时共享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22696" y="242316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012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7288" y="1828800"/>
            <a:ext cx="26821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182880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1828800"/>
            <a:ext cx="26821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7288" y="182880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4448" y="233172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仓储交收 + 全程可视化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87739" y="242316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171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52331" y="1828800"/>
            <a:ext cx="26821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331" y="1828800"/>
            <a:ext cx="73152" cy="11887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331" y="1828800"/>
            <a:ext cx="2682164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331" y="182880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89491" y="233172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统一结算 + 供应链金融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291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三方价值视角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363717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49040"/>
            <a:ext cx="73152" cy="23774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88620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对买方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5800" y="4434840"/>
            <a:ext cx="31799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货源透明、价格可对冲、付款有保障、到货看得见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77258" y="3749040"/>
            <a:ext cx="363717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77258" y="3749040"/>
            <a:ext cx="73152" cy="23774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5858" y="388620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对卖方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505858" y="4434840"/>
            <a:ext cx="31799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客群扩大、回款更快、库存可融资、信用能积累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97317" y="3749040"/>
            <a:ext cx="363717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97317" y="3749040"/>
            <a:ext cx="73152" cy="23774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5917" y="388620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对平台 / 监管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325917" y="4434840"/>
            <a:ext cx="31799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四流合一、风险可控、合规可追溯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66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系统介绍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Overview · 从产品定位到整体架构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系统介绍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平台定位与产品愿景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面向大宗商品现货与远期交易场景的产业互联网平台，覆盖能源、化工、农产品、矿产品、冶金、建材等核心品类。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客户群体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上游：生产商、贸易商、仓储监管企业、检验检测机构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中游：加工企业、流通商、供应链服务公司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下游：终端用户、零售商、出口贸易商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配套：银行、保理、保险、期货风险管理子公司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核心价值主张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全链路打通：注册→交易→交收→结算→金融，单一平台完成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多元定价：挂牌/竞价/点价/基差/代采/谈判/协议七大模式并存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智能化：AI 嵌入商品发布、订单管理、合同、风控全流程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生态化：与仓储、物流、银行、期货、税务、SaaS 深度对接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3931920" cy="4114800"/>
          </a:xfrm>
          <a:prstGeom prst="rect">
            <a:avLst/>
          </a:prstGeom>
          <a:solidFill>
            <a:srgbClr val="EEF3F9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371600"/>
            <a:ext cx="73152" cy="41148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我们的愿景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20116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"四个统一"为架构基础——统一账户体系、统一身份认证、统一订单管理、统一资金结算，融合多元化定价模式，构建全链条业务闭环；通过一体化解决方案实现业务场景的无缝衔接，助力客户高效完成交易全周期管理，打造数字化、智能化的综合服务生态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5577840"/>
            <a:ext cx="3931920" cy="640080"/>
          </a:xfrm>
          <a:prstGeom prst="rect">
            <a:avLst/>
          </a:prstGeom>
          <a:solidFill>
            <a:srgbClr val="0E3B7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5623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 · 智能化 · 生态化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66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系统介绍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整体业务架构 (Overall Business Architecture)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1277295" cy="9144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郑大 D03 交易平台是一套集多项核心功能于一体的综合业务平台，以"四个统一"为架构基础——统一账户体系、统一身份认证、统一订单管理与统一资金结算，融合多元化定价模式，为客户构建全链条业务闭环。系统覆盖从注册开户、交易、交收执行、仓储管理、物流调度、到供应链金融服务的全流程环节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68880"/>
            <a:ext cx="26060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注册登录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企业查照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卡证识别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视频认证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/ 手机 / 微信 / 支付宝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4408" y="365760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46888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2468880"/>
            <a:ext cx="2606040" cy="5943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20624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交易撮合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32461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 · 竞价 · 点价 · 基差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拼单集采 · 代采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 · 谈判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/ 销售双端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65760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46888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468880"/>
            <a:ext cx="26060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9951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交收办理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6520" y="32461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合同签署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履约金支付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货权交割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 / 提货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42248" y="3657600"/>
            <a:ext cx="164592" cy="0"/>
          </a:xfrm>
          <a:prstGeom prst="line">
            <a:avLst/>
          </a:prstGeom>
          <a:noFill/>
          <a:ln w="28575">
            <a:solidFill>
              <a:srgbClr val="D726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520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06840" y="246888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0" y="2468880"/>
            <a:ext cx="2606040" cy="5943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2514600"/>
            <a:ext cx="502920" cy="50292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78408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交付闭环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35440" y="32461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多种交收方式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多种结算方式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对接仓储 · 物流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对接发票 · 签章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多支付方式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0E3B7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统一账户 → 统一身份 → 统一订单 → 统一资金  →  业务场景无缝衔接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66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系统介绍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"四个统一"架构理念详解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平台以"四个统一"为底层架构基础，贯穿注册、交易、交收、结算全链路，确保客户身份、订单、资金的一致性与可追溯性。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3643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488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0312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17320" y="2167128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统一账户体系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834640"/>
            <a:ext cx="499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一套账户贯穿注册→交易→交收→结算全链路。用户身份与企业资质绑定，子账户分权管理，支持多角色（采购/销售/财务/管理员）权限隔离。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4907128" cy="320040"/>
          </a:xfrm>
          <a:prstGeom prst="rect">
            <a:avLst/>
          </a:prstGeom>
          <a:solidFill>
            <a:srgbClr val="EEF3F9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6616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单点登录 · 全平台通行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848" y="1874520"/>
            <a:ext cx="53643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1874520"/>
            <a:ext cx="73152" cy="21488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4448" y="210312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55968" y="2167128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统一身份认证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24448" y="2834640"/>
            <a:ext cx="499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 + 企业查照 + 卡证 OCR 识别 + 视频活体认证 + 设备指纹。从个人到企业、从小微到机构，分级认证策略。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24448" y="3566160"/>
            <a:ext cx="4907128" cy="320040"/>
          </a:xfrm>
          <a:prstGeom prst="rect">
            <a:avLst/>
          </a:prstGeom>
          <a:solidFill>
            <a:srgbClr val="EEF3F9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448" y="356616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四要素校验 · 生物识别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53643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06240"/>
            <a:ext cx="73152" cy="21488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43484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417320" y="4498848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统一订单管理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166360"/>
            <a:ext cx="499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无论挂牌、竞价、点价、协议、谈判等何种交易模式，所有订单进入统一订单中心。统一状态机（草稿/已下/部分成交/全部成交/取消/作废）。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5897880"/>
            <a:ext cx="4907128" cy="320040"/>
          </a:xfrm>
          <a:prstGeom prst="rect">
            <a:avLst/>
          </a:prstGeom>
          <a:solidFill>
            <a:srgbClr val="EEF3F9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8978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全模式汇聚 · 状态可追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95848" y="4206240"/>
            <a:ext cx="53643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5848" y="4206240"/>
            <a:ext cx="73152" cy="21488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4448" y="443484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4448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055968" y="4498848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统一资金结算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4448" y="5166360"/>
            <a:ext cx="499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保证金、货款、佣金、服务费、罚息均集中于统一资金账户。支持 T+0 / T+N 结算，自动对账，日终清算，结果可下载对账单。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4448" y="5897880"/>
            <a:ext cx="4907128" cy="320040"/>
          </a:xfrm>
          <a:prstGeom prst="rect">
            <a:avLst/>
          </a:prstGeom>
          <a:solidFill>
            <a:srgbClr val="EEF3F9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4448" y="589788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资金闭环 · 自动对账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66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系统介绍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68580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280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· 移动 H5 · 微信小程序 · 钉钉/企微 · API 网关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6858000" cy="8686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1226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11226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 微服务集群 (交易核心 / 风控 / 商品 / 订单 / 用户 / 结算 / 仓储 / 物流 / 金融 / 报表 / 通知 / 管理)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6858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3580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03580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 · Vue 中后台 · 多租户隔离 · 灰度发布 · 服务治理 (Nacos/Sentinel)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6858000" cy="8686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6791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8679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语言撮合核心 (单线程内存撮合 + 异步落库) · 行情引擎 · 搜索引擎 · AI 推理引擎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91456"/>
            <a:ext cx="6858000" cy="7772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9145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479145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双实例 · Redis 集群 · ClickHouse · Elasticsearch · MinIO 对象存储 · Kafka 消息总线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1280160"/>
            <a:ext cx="4114800" cy="50292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280160"/>
            <a:ext cx="73152" cy="50292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核心技术亮点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0" y="1920240"/>
            <a:ext cx="3749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语言撮合引擎 — 自研，单线程内存撮合 + 异步落库，毫秒级延迟，支撑高并发场景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微服务中台 — Spring Cloud Alibaba 技术栈，Nacos 注册/配置中心，Sentinel 限流熔断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 数据中心 — 异构通信桥接层，Hessian 序列化 + Socket 长连接，解决 C↔Java 协议转换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Canal 数据同步 — 监听 MySQL Binlog 实时同步至缓存与 ES，加速页面查询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插件化业务框架 — 业务模块可插拔，支持多业务模式快速扩展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多级缓存 — Redis + 本地缓存 + CDN，多层防护应对突发流量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66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平台亮点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Highlights · 12 项系统建设亮点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平台亮点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项系统建设亮点总览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从功能层面（开户/登录/交易/交收/合规/智能）到技术层面（通联/安全/保价/稳定/并发/扩展），全方位体现平台核心能力。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74520"/>
            <a:ext cx="365760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 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82164" y="1938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2585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个人/企业双轨；卡证识别+实名认证+视频验；微信/支付宝通道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22244" y="187452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2244" y="1874520"/>
            <a:ext cx="73152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2244" y="1874520"/>
            <a:ext cx="365760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2244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79444" y="192024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 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47208" y="1938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79444" y="22585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账号/手机/证件号/邮箱/微信/支付宝多渠道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7288" y="187452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1874520"/>
            <a:ext cx="73152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7288" y="1874520"/>
            <a:ext cx="365760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7288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44488" y="192024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 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251" y="1938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44488" y="22585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商品自定义；行情/挂牌/摘牌/撮合模块自由组合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2331" y="187452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331" y="1874520"/>
            <a:ext cx="73152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331" y="1874520"/>
            <a:ext cx="365760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331" y="18745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09531" y="192024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 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77295" y="19385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531" y="225856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强大的交收引擎，支持多种交收方式与合同办理方式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97180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971800"/>
            <a:ext cx="73152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2971800"/>
            <a:ext cx="365760" cy="9601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00" y="301752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 规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682164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4400" y="335584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商品/成交方式/交易流程多维度合规控制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22244" y="297180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22244" y="2971800"/>
            <a:ext cx="73152" cy="9601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22244" y="2971800"/>
            <a:ext cx="365760" cy="9601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22244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779444" y="301752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 能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47208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779444" y="335584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智能分析/公告推送/价格预警/标的推荐/资讯聚合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87288" y="297180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7288" y="297180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7288" y="297180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7288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44488" y="301752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 联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12251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44488" y="335584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各业务互联互通，协议/挂牌/竞价/基差/点价多模式互联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52331" y="297180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2331" y="297180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331" y="297180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52331" y="297180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509531" y="301752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 全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277295" y="30358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509531" y="335584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设备绑定+异常登录识别+验证码+人脸验证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406908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06908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406908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4400" y="411480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 价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682164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14400" y="445312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对接期货第三方平台，锁定价格风险，降低资金成本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322244" y="406908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22244" y="406908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22244" y="406908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22244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3779444" y="411480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 定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547208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779444" y="445312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语言核心开发，自主知识产权，保障持续稳定运行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187288" y="406908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87288" y="406908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87288" y="406908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87288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644488" y="411480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 发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412251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644488" y="445312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内存处理机制+中间件技术，支撑高并发扩展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052331" y="4069080"/>
            <a:ext cx="277360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52331" y="4069080"/>
            <a:ext cx="73152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52331" y="4069080"/>
            <a:ext cx="365760" cy="9601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052331" y="4069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509531" y="4114800"/>
            <a:ext cx="18592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 展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1277295" y="4133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9509531" y="4453128"/>
            <a:ext cx="22249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插件式架构，业务可插拔，灵活适配多业务模式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" y="5074920"/>
            <a:ext cx="11277295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0080" y="51663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 vs 技术层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40080" y="553212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功能层（01-06）聚焦"业务能做什么"，让客户用得顺手；技术层（07-12）聚焦"平台靠什么做到"，解决扩展性、性能、安全、稳定等基础设施问题。其中第 10/11 项更是与行业头部实践同源——C 语言撮合核心 + 内存处理机制，是大宗商品交易系统经过验证的成熟技术路线。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66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平台亮点 (功能层)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六大业务能力详解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423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363717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 — 个人 &amp; 企业双轨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个人注册：身份证 OCR + 实名认证 + 视频活体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企业注册：营业执照 + 对公账户 + 法人信息 + 视频核验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前端按企查查接口前置校验企业信用与法人关联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支持微信小程序、支付宝小程序、PC 端、移动端 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7258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7258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258" y="1371600"/>
            <a:ext cx="363717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0138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— 多渠道认证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5858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账号密码（强密码策略 + 90 天强制更换）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 + 短信验证码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证件号 + 邮箱（企业用户常用）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微信扫码、支付宝扫码（OAuth 2.0）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7317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137160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7317" y="1371600"/>
            <a:ext cx="3637178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0197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 — 商品可自定义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5917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商品分类可自由配置：品类/规格/产地/质量标准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行情模块：实时价格/K线/分时/盘口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挂牌/摘牌/撮合模块按商品属性启用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基差参数、点价规则、交割方式可逐商品设置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77640"/>
            <a:ext cx="73152" cy="2423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363717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交收 — 强引擎多模式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支持仓单交割、现货交割、车板交割、协议交割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电子合同生成与电子签章集成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履约金分阶段释放与冻结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发票自动化开具与归档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77258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7258" y="3977640"/>
            <a:ext cx="73152" cy="2423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7258" y="3977640"/>
            <a:ext cx="363717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0138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— 多维度内控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05858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交易前：禁止名单校验、反洗钱名单筛查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交易中：额度控制、关联交易识别、价格异常监控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交易后：审计日志、合规报表、监管报送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与监管系统对接，及时报送交易数据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7317" y="3977640"/>
            <a:ext cx="73152" cy="2423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7317" y="3977640"/>
            <a:ext cx="3637178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0197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 — AI 嵌入全流程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25917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智能分析：行情预测、价格预警、套利机会识别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即时消息推送：公告、价格异动、合同节点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消息精准触达：根据用户行为智能推荐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价格异常预警：异常阈值与多级通知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新闻资讯聚合：行业要闻、政策、研报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66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平台亮点 (技术层)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六大技术能力详解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363717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通联 — 业务互联互通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协议交易、挂牌、竞价、基差、点价等多种业务模式数据互联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客户上下游关系联动，跨业务协同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统一消息中心：站内信、短信、邮件、企微多通道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上下游订单流转：上游挂牌可下推为下游采购单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7258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7258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258" y="1371600"/>
            <a:ext cx="363717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0138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— 立体防护体系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05858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设备绑定：首次登录设备需短信验证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异常登录识别：异地、陌生设备、暴力破解检测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验证码（图形/短信/邮箱）多因子认证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人脸识别、视频活体核身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全方位日志审计与安全事件响应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7317" y="137160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7317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7317" y="1371600"/>
            <a:ext cx="363717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0197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保价 — 期货联动风控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5917" y="201168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对接期货第三方平台，行情实时同步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成熟风控管理模型，订单与套保账户联动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以最小资金成本锁定订货价格风险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基差点价：现货 + 期货点价组合报价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产融套保：交易核心与套保策略自动化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77640"/>
            <a:ext cx="73152" cy="2423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3637178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稳定 — C 语言核心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核心采用 C 语言开发，具有自主知识产权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单线程内存撮合，无锁设计，避免上下文切换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异步落库：撮合 → 内存队列 → 落库，毫秒级延迟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经过长期生产验证，性能与稳定性兼顾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撮合引擎独立部署，可水平扩展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77258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7258" y="3977640"/>
            <a:ext cx="73152" cy="2423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7258" y="3977640"/>
            <a:ext cx="3637178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0138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并发 — 内存处理机制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05858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采用内存处理机制，数据直接在内存中处理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中间件技术支撑高并发场景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缓存预热 + 数据本地化，降低数据库压力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可线性扩展，随业务规模增长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TPS/P99 延迟指标行业领先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3977640"/>
            <a:ext cx="363717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7317" y="397764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7317" y="3977640"/>
            <a:ext cx="3637178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80197" y="397764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 — 插件化业务框架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5917" y="4617720"/>
            <a:ext cx="317997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采用插件式架构，业务模块可插拔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可扩展多种业务模式，新品类快速接入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支持标的属性、辅助标识、主标等的灵活配置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多租户隔离，租户可定制业务规则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业务配置中心：可视化、低代码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400800"/>
            <a:ext cx="11277295" cy="137160"/>
          </a:xfrm>
          <a:prstGeom prst="rect">
            <a:avLst/>
          </a:prstGeom>
          <a:solidFill>
            <a:srgbClr val="D72638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66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开户注册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Account Registration · 多渠道实名认证体系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开户注册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开户流程总览 (全渠道)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PC、移动 H5、微信小程序、支付宝小程序四端开户，流程统一、状态互通。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9785" y="178308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9785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选择类型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企业两类账户入口；选择后引导不同认证流程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1800000">
            <a:off x="2199589" y="2075688"/>
            <a:ext cx="109728" cy="54864"/>
          </a:xfrm>
          <a:prstGeom prst="rtTriangle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2194" y="17830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219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59609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05329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手机号/邮箱注册 → 验证码 → 设置登录密码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1800000">
            <a:off x="4101998" y="2075688"/>
            <a:ext cx="109728" cy="54864"/>
          </a:xfrm>
          <a:prstGeom prst="rtTriangle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4603" y="17830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4603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62018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实名认证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07738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个人：身份证 OCR + 视频活体；企业：营业执照 + 对公账户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800000">
            <a:off x="6004408" y="2075688"/>
            <a:ext cx="109728" cy="54864"/>
          </a:xfrm>
          <a:prstGeom prst="rtTriangle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7012" y="17830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7012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64428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资质审核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0148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平台自动核验 + 人工审核（特殊行业）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1800000">
            <a:off x="7906817" y="2075688"/>
            <a:ext cx="109728" cy="54864"/>
          </a:xfrm>
          <a:prstGeom prst="rtTriangle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9421" y="17830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29421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066837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账户开通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12557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系统生成电子签约账号，绑定资金账户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1800000">
            <a:off x="9809226" y="2075688"/>
            <a:ext cx="109728" cy="54864"/>
          </a:xfrm>
          <a:prstGeom prst="rtTriangle">
            <a:avLst/>
          </a:prstGeom>
          <a:solidFill>
            <a:srgbClr val="D6E2EE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31831" y="17830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31831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969246" y="2514600"/>
            <a:ext cx="17652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渠道授权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14966" y="2880360"/>
            <a:ext cx="16738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微信/支付宝绑定 + 通知偏好设置，开户完成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11277295" cy="22860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114800"/>
            <a:ext cx="73152" cy="2286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06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" y="457200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&amp; 企业两套独立流程，可并行提交、并行审核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前端接入企查查 / 天眼查等企业数据接口，企业资质前置校验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KYC（Know Your Customer）分级：基础/增强/严格，三级对应不同权限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失败重试：单节点失败可单独重跑，不重复走全流程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黑白名单：与监管合规名单自动比对，禁止名单拦截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审计追溯：每步操作记录时间/IP/设备/操作人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66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开户注册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多渠道认证矩阵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371600"/>
                <a:gridCol w="192024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适用对象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认证强度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身份证 OCR + 视频活体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首次注册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营业执照 + 法人身份证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/ 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企业开户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对公账户打款验证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/ 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打款 0.01-0.99 元验证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银行卡四要素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绑定结算卡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人脸识别 (1:N)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登录二次验证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手机号短信验证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日常登录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企业邮箱验证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 / 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企业内部通讯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设备指纹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个人/企业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异常登录识别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IP 地理位置风控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个人/企业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全部渠道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异地登录告警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系统按风险等级动态选择认证组合：高风险操作（出金、签约、大额下单）触发增强认证；低风险操作（登录、查价）允许基础认证。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66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交易登录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Trading Login · 统一安全登录机制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交易登录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六大登录方式 × 三层防护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前端支持账号/手机/证件号/邮箱/微信/支付宝六种登录入口，后端串联三层安全防护。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1143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371600" y="20116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 + 密码（含字母数字特殊字符）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7258" y="178308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7258" y="1783080"/>
            <a:ext cx="73152" cy="1143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0138" y="2057400"/>
            <a:ext cx="594360" cy="59436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0138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191658" y="20116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91658" y="237744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 + 短信动态码 (5 分钟有效)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178308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317" y="1783080"/>
            <a:ext cx="73152" cy="1143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0197" y="2057400"/>
            <a:ext cx="594360" cy="59436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0197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011717" y="20116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证件号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11717" y="237744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证件号 + 邮箱验证码 (企业用户)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08960"/>
            <a:ext cx="73152" cy="1143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371600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370332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 + 邮件一次性登录链接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7258" y="310896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7258" y="310896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0138" y="338328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0138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5191658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91658" y="370332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 OAuth 2.0 扫码 / 公众号授权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97317" y="3108960"/>
            <a:ext cx="3637178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7317" y="3108960"/>
            <a:ext cx="73152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0197" y="338328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0197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9011717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11717" y="3703320"/>
            <a:ext cx="2539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 OAuth 2.0 扫码 / 快捷登录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5262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三层防护体系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7200" y="4937760"/>
            <a:ext cx="36371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937760"/>
            <a:ext cx="73152" cy="1463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937760"/>
            <a:ext cx="3637178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377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5440680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密码强度策略；输入错误次数锁定；图形验证码防爆破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277258" y="4937760"/>
            <a:ext cx="36371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77258" y="4937760"/>
            <a:ext cx="73152" cy="14630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77258" y="4937760"/>
            <a:ext cx="3637178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7258" y="49377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会话层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5858" y="5440680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有效期控制；设备指纹绑定；登录态实时校验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97317" y="4937760"/>
            <a:ext cx="363717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7317" y="4937760"/>
            <a:ext cx="73152" cy="14630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97317" y="4937760"/>
            <a:ext cx="3637178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97317" y="49377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325917" y="5440680"/>
            <a:ext cx="31799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异地/异常时段/陌生设备识别；高风险操作二次验证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66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交易登录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安全登录机制全景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272788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设备绑定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首次登录设备需短信+人脸双重确认，陌生设备强制二次校验；设备库支持 5 台常用设备。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03956" y="137160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3956" y="1371600"/>
            <a:ext cx="73152" cy="22860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3956" y="1371600"/>
            <a:ext cx="272788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6836" y="137160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异地登录识别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86836" y="192024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地理定位与常用登录地对比，异地触发短信验证 + 邮件告警；可设置常用登录地。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50712" y="137160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0712" y="1371600"/>
            <a:ext cx="73152" cy="22860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0712" y="1371600"/>
            <a:ext cx="272788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3592" y="137160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3592" y="192024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图形验证码（防机器）+ 短信验证码 + 邮箱验证码 + TOTP（可选）；校验码 5 分钟失效。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97467" y="137160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7467" y="1371600"/>
            <a:ext cx="73152" cy="22860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467" y="1371600"/>
            <a:ext cx="2727884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0347" y="137160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人脸验证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0347" y="192024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高风险操作（修改密码、大额出金、签约）强制人脸验证；与公安部身份证库实时比对。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40480"/>
            <a:ext cx="73152" cy="2286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40480"/>
            <a:ext cx="2727884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4048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机制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双 Token：Access Token 15 分钟，Refresh Token 7 天；可强制下线所有设备。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03956" y="384048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03956" y="3840480"/>
            <a:ext cx="73152" cy="22860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03956" y="3840480"/>
            <a:ext cx="2727884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6836" y="384048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会话控制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86836" y="438912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同时在线设备数限制；登录冲突时单点登出其他端；操作会话与 IP 一致性实时校验。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50712" y="384048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0712" y="3840480"/>
            <a:ext cx="73152" cy="2286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50712" y="3840480"/>
            <a:ext cx="2727884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3592" y="384048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风控联动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33592" y="438912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登录即串联风控引擎：黑名单校验、设备黑名单、IP 黑名单、可疑行为模式识别。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997467" y="3840480"/>
            <a:ext cx="2727884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97467" y="3840480"/>
            <a:ext cx="73152" cy="2286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97467" y="3840480"/>
            <a:ext cx="2727884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0347" y="3840480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审计追溯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80347" y="4389120"/>
            <a:ext cx="23621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每次登录记录：时间、IP、设备、UA、地理位置、登录结果；保存 180 天审计日志。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66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交易业务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Trading Business · 七大交易模式矩阵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七大交易模式 · 业务全景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从最基础的挂牌交易到复杂的产融套保，七种模式可独立运行也可组合使用；支持衍生子模式（保证金/合同/竞价/预约/协议/谈判挂牌）。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16916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8586" y="1965960"/>
            <a:ext cx="822960" cy="82296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586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挂牌交易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卖方挂单，买方摘单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0091" y="178308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0091" y="1783080"/>
            <a:ext cx="73152" cy="16916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477" y="196596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477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740091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竞价交易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0091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1531" y="31546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公开竞价 / 拍卖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2982" y="178308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2982" y="1783080"/>
            <a:ext cx="73152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4368" y="196596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4368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022982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点价交易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2982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14422" y="31546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基于期货/指数的远期定价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05873" y="178308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05873" y="1783080"/>
            <a:ext cx="73152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67259" y="196596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67259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305873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基差交易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05873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97313" y="31546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现货+基差组合报价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588764" y="178308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88764" y="1783080"/>
            <a:ext cx="73152" cy="1691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50150" y="1965960"/>
            <a:ext cx="822960" cy="82296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5015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9588764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产融套保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588764" y="283464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80204" y="315468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现货+期货对冲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65760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657600"/>
            <a:ext cx="73152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8586" y="384048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8586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57200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代采业务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502920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平台代为采购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0091" y="365760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0091" y="3657600"/>
            <a:ext cx="73152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01477" y="3840480"/>
            <a:ext cx="822960" cy="8229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01477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谈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2740091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谈判交易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740091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831531" y="502920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一对一协商定价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2982" y="365760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2982" y="365760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84368" y="384048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84368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5022982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协议交易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022982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14422" y="502920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长协框架下的批量执行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305873" y="3657600"/>
            <a:ext cx="21457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05873" y="3657600"/>
            <a:ext cx="73152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67259" y="384048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67259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</a:t>
            </a:r>
            <a:endParaRPr lang="en-US" sz="3200" dirty="0"/>
          </a:p>
        </p:txBody>
      </p:sp>
      <p:sp>
        <p:nvSpPr>
          <p:cNvPr id="69" name="Text 67"/>
          <p:cNvSpPr/>
          <p:nvPr/>
        </p:nvSpPr>
        <p:spPr>
          <a:xfrm>
            <a:off x="7305873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拼单集采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305873" y="4709160"/>
            <a:ext cx="2145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397313" y="502920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多买方联合采购降本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5486400"/>
            <a:ext cx="73152" cy="9144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模式组合能力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0080" y="5943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同商品可启用多模式  ·  ✔ 同一订单可拆分到多模式  ·  ✔ 模式间相互联动 (上下游下推)  ·  ✔ 各模式报表独立 + 汇总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66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01 · 挂牌交易  (Listing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最基础、最通用的交易模式：卖方发布商品、价格、数量、有效期，买方在有效期内摘牌成交。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6 种子类型：保证金挂牌、合同挂牌、竞价挂牌、预约挂牌、协议挂牌、谈判挂牌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卖方通过平台发布商品、价格、数量、有效期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买方浏览后在有效期内核价摘牌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成交后自动生成合同 + 冻结履约金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支持撤销、修改、批量操作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支持挂牌转代采 / 转竞价等模式切换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挂牌平均时长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子模式数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成交转化率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35%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现货采购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中小企业按需摘牌，价格透明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库存去化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上游销售库存，加速回款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一口价成交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买卖双方对价格条款高度确定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66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02 · 竞价交易  (Auction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公开透明的拍卖/竞价模式，多种拍卖规则灵活配置，延时机制防狙击。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公开竞价模式：起拍价、加价幅度、延时周期可配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支持英式（升价）/ 荷式（降价）/ 第一密封价三种拍卖规则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实时显示参拍人数与当前最高价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延时触发机制：最后 5 分钟内出价自动延时 5 分钟（防狙击）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成交后冻结保证金、生成竞拍报告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支持设置保留价、流拍保护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支持拍卖规则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单场时长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1~24h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最大延时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大宗资产处置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库存物资、设备等公开处置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稀缺标的拍卖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限量配额、品牌授权等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批量集采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多供应商竞标最优解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66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03 · 点价交易  (Pricing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远期定价场景，先定数量/品质，再择时参考期货/指数确定最终价格，是大宗商品定价的核心模式。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远期定价：买卖双方先约定基差或绝对价差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点价期内由买方在期货盘面选择最终价格（点价）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点价期内卖方可在对方点价前反向对冲（互换点价权）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支持均价点价、点价期分段点价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与期货第三方平台对接获取实时行情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点价完成 → 现货合同价格确定 → 生成结算单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90 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 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结算精度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 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能源贸易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原油、燃料油等大宗能源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有色金属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铜、铝、锌对期货联动需求高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农产品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大豆、玉米等季节性定价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66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04 · 基差交易  (Basis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"现货 = 期货 + 基差"的标准化定价模式，基差透明、波动小、便于套保。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现货报价 = 期货价格 + 基差，基差由双方协商或平台参考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基差报价透明、波动幅度小、便于套保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支持升贴水规则（不同品质/等级对应不同基差）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与点价交易相互切换灵活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合同自动跟踪期货价格波动，到期/点价后结算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基差数据可作为后续行情分析输入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基差浮动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-200~+200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支持品种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基差刷新频率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钢厂原料采购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铁矿石、焦炭的基差报价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能化产品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PTA、甲醇的基差报价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粮食加工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豆粕、玉米等基差定价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66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05 · 产融套保  (Production-Finance Hedging)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现货交易 + 期货对冲一体化，平台联动套保账户自动算敞口，降低资金成本锁定风险。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现货交易 + 期货对冲一体化，锁定价格风险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套保账户与现货账户联动，自动计算净敞口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支持买入套保（锁定原料成本）、卖出套保（锁定销售利润）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套保策略可配置：固定比例、动态调整、风控阈值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敞口监控：基差风险、保证金追缴预警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套保效果评估：期现对冲偏差分析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套保联动延迟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100ms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敞口监控粒度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保证金预警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制造企业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锁定原材料 / 产成品价格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库存保值与对冲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农业产业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订单农业 + 套保锁定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66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06 · 代采业务  (Procurement Agency)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平台以自身名义代客户采购，缓解中小企业资金、资质、议价能力不足的问题。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客户提出采购需求，平台以自身名义代为采购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缓解中小企业资金、资质、议价能力不足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支持先发货后付款、分期付款、信用证结算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可对接供应链金融，提供融资支持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代采全流程透明：寻源、比价、签约、收货、对账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履约保障：货物监管、仓单质押、物流追踪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代采服务费率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0.3~1%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代采融资周期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T+0~30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代采透明度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中小贸易商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资金有限但有稳定下游需求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加工企业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原料采购集中化降本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海外订单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无国内采购资质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66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07 · 谈判交易  (Negotiation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一对一非标品协商场景，所有报价、时间、人物、内容全程留痕。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一对一协商定价后走系统流程留痕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支持多轮报价：买方出价 → 卖方还价 → 反报价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每轮报价有效期可设置，自动过期提醒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系统留痕：所有报价、时间、人物、内容全程审计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达成一致后双方电子签约自动转为正式合同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与即时通讯集成：谈判过程可平台内完成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报价轮次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谈判留痕保存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签约自动化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电子签章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非标商品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定制规格商品需要协商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长期合作的框架补充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新业务洽谈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初次合作需要细节协商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66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08 · 协议交易  (Agreement Trading)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基于长期框架协议(LTA)的批量执行，一次签约多次执行，减少重复签约成本。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基于长期框架协议（LTA）的批量执行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可按时间窗口/数量/品类自动触发执行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一次签约，多次执行：减少重复签约成本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协议条款灵活：价格、数量、品质可分批次协商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支持协议变更、补充协议、终止协议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协议执行情况自动报表化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协议有效期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3 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执行批次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变更记录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战略供应商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年度框架协议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稳定客户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长协到期自动续签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集采平台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协议内多批次执行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66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09 · 拼单集采  (Group Procurement)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多买方联合采购，集中订单获得更优价格，对接供应链金融解决资金缺口。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7315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6949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多买方联合采购，集中订单获得更优价格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拼单期开放、达到起订量后自动成交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支持单人发起拼单、邀请下游加入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拼单成功后按订单金额比例分摊物流成本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可对接供应链金融解决部分买方资金缺口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平台运营可发起"主题拼单"(如不锈钢节、原料季)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874520"/>
            <a:ext cx="3749040" cy="21945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7452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▎关键指标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起订量可配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拼单截止时间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拼单成功率提升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40%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1277295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▎适用场景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中小买方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通过集中获得价格优势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68698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869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4458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运营活动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34458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平台运营主题性拼单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97317" y="4800600"/>
            <a:ext cx="274320" cy="2743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7317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63077" y="475488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采购联盟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63077" y="50749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行业上下游联盟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66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交易业务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七大交易模式对比矩阵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601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套保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谈判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去化库存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稀缺拍卖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远期定价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套保联动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价格锁定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代采融资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协商定价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长协执行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集采降本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价格机制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卖方定价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竞争出价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点价期选价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基差定价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期现联动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平台询价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多轮报价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集中议价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期现商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期现商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产融商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中小客户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战略合作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中小买方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技术复杂度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结算周期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即时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签约后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按批次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拼成后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风控重点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履约担保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拍卖违约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点价履约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基差风险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净敞口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资金安全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谈判合规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订单拼合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297680"/>
            <a:ext cx="11460175" cy="210312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4297680"/>
            <a:ext cx="73152" cy="210312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389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差异化能力与选择建议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475488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点价 + 基差 + 套保：构成"期现联动"三大件，是大宗商品交易的核心差异化能力，对接期货行情是必备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代采 + 拼单：解决中小客户资金和议价能力问题，配合供应链金融形成业务闭环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挂牌 + 谈判 + 协议：覆盖标准化到非标化的全场景，长短单结合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建议组合策略：标准品用挂牌/竞价强流动性；非标品用谈判/协议留痕；价格敏感品用点价/基差/套保管理风险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66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交收办理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&amp; Settlement · 合同→货权→发票→物流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交收办理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交收全链路总览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从合同签署到资金结算，覆盖六大核心节点。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818589" cy="9144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合同签署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电子合同生成 + 电子签章集成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4933" y="22860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4661" y="1828800"/>
            <a:ext cx="1818589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1821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履约金支付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94661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1821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履约金冻结 + 分阶段释放机制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2394" y="22860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2122" y="1828800"/>
            <a:ext cx="1818589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9282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货权交割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32122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9282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电子仓单转移 + 多仓库协调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59856" y="22860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9584" y="1828800"/>
            <a:ext cx="1818589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6744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物流调度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9584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6744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发货/提货 + 物流轨迹实时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97317" y="22860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7045" y="1828800"/>
            <a:ext cx="1818589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4205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发票管理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07045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4205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销项/进项发票自动化 + 归档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34778" y="228600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4506" y="1828800"/>
            <a:ext cx="1818589" cy="9144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1666" y="182880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资金结算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144506" y="2880360"/>
            <a:ext cx="1818589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81666" y="2971800"/>
            <a:ext cx="15442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尾款结算 + 自动对账 + T+N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平台交收能力亮点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0916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709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合同模板化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" y="500176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50+ 标准合同模板 + 自定义合同；自动填充订单要素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77258" y="470916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77258" y="470916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5858" y="4709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签章集成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05858" y="500176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对接多家电子签章服务商（e签宝、法大大等）；CA 证书管理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097317" y="470916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7317" y="470916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5917" y="470916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履约金智能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325917" y="500176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按节点释放、按风险补缴、按违约扣除；全程可视化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57784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57784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5778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仓单标准化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5800" y="587044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区块链存证、电子签发、可拆分、可转让、可质押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77258" y="557784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7258" y="557784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05858" y="55778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物流可视化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05858" y="587044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TMS / GPS / IoT，物流全程轨迹实时上链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97317" y="5577840"/>
            <a:ext cx="363717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97317" y="5577840"/>
            <a:ext cx="73152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25917" y="5577840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发票自动化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325917" y="587044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按订单自动开票 + 发票验真 + 税务系统对接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66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交收办理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发货提货流程详解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"发货"与"提货"是交收闭环的两端，分别从卖方仓库和买方物流视角贯通。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6692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46634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669280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37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 (交付方视角)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卖方确认订单 → 进入待发货状态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选择发货仓库（支持多库协同）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生成发货单 + 拣货指令 → 仓储 WMS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货物出库 → 自动核减库存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装车 → 司机/车牌/装车照片记录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在途 → GPS + IoT 实时轨迹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签收 → 买方电子签收 + 照片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仓单转移完成 → 结算尾款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37360"/>
            <a:ext cx="73152" cy="46634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提货 (收货方视角)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3317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买方确认订单 → 进入待提货状态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缴纳尾款 → 履约金释放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选择提货方式：自提 / 物流 / 仓库直发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自提：预约时间 + 提货码 + 身份证验证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物流：填写收货地址 + 选择承运商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货权转移：仓单接收 → 物权变更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收货 → 数量/质量验收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签收 → 触发结算 → 合同完结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66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交收办理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仓储管理与物流调度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▎仓储管理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1188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库存实时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多仓库存实时同步；按 SKU/批号/库位管理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2244" y="169164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244" y="1691640"/>
            <a:ext cx="73152" cy="1188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5124" y="178308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入库/出库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5124" y="210312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扫码入库、移动作业、电子单据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7288" y="169164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1691640"/>
            <a:ext cx="73152" cy="1188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0168" y="178308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0168" y="210312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周期盘点、盲盘、差异自动报告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331" y="169164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331" y="1691640"/>
            <a:ext cx="73152" cy="1188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211" y="178308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211" y="210312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上下限预警、呆滞料分析、效期管理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▎物流调度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2044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承运商接入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第三方承运商 API；自营 / 加盟 / 个体多模式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22244" y="342900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2244" y="3429000"/>
            <a:ext cx="73152" cy="1188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5124" y="352044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智能调度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05124" y="384048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按运力/成本/时效三维度自动派单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7288" y="342900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7288" y="3429000"/>
            <a:ext cx="73152" cy="1188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0168" y="352044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轨迹追踪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70168" y="384048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 + 北斗双模；地图可视化；异常告警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331" y="3429000"/>
            <a:ext cx="277360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331" y="3429000"/>
            <a:ext cx="73152" cy="11887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211" y="3520440"/>
            <a:ext cx="24078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签收回单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35211" y="3840480"/>
            <a:ext cx="24078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电子签收单 + 拍照 + 自动上传平台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800600"/>
            <a:ext cx="11277295" cy="16002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800600"/>
            <a:ext cx="73152" cy="16002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数据可视化看板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080" y="5285232"/>
            <a:ext cx="209086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12.5 万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640080" y="5852160"/>
            <a:ext cx="209086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 SKU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822387" y="5285232"/>
            <a:ext cx="209086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2822387" y="5852160"/>
            <a:ext cx="209086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接入仓库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04694" y="5285232"/>
            <a:ext cx="209086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98.6%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5004694" y="5852160"/>
            <a:ext cx="209086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电子化率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87001" y="5285232"/>
            <a:ext cx="209086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2h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187001" y="5852160"/>
            <a:ext cx="209086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调度响应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369308" y="5285232"/>
            <a:ext cx="209086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99.5%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9369308" y="5852160"/>
            <a:ext cx="209086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轨迹完整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66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资金结算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Fund Settlement · 统一资金账户体系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资金结算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统一资金账户体系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所有资金（保证金、货款、佣金、服务费、罚息）在统一账户体系内流转，支持 T+0/T+N 灵活结算。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1277295" cy="1005840"/>
          </a:xfrm>
          <a:prstGeom prst="rect">
            <a:avLst/>
          </a:prstGeom>
          <a:solidFill>
            <a:srgbClr val="0E3B7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10058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统一资金账户 (Unified Fund Account)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六个卫星子账户在统一体系内联动：保证金 → 货款 → 服务费 → 佣金 → 违约金 → 融资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363717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交易保证金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保证金冻结/释放/追缴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77258" y="301752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7258" y="3017520"/>
            <a:ext cx="73152" cy="15087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7258" y="3017520"/>
            <a:ext cx="3637178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7258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货款账户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60138" y="365760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收货付款/发货收款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77258" y="420624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7317" y="301752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7317" y="3017520"/>
            <a:ext cx="73152" cy="15087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7317" y="3017520"/>
            <a:ext cx="3637178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7317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佣金账户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80197" y="365760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平台佣金自动计提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7317" y="420624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70916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70916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709160"/>
            <a:ext cx="363717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91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服务费账户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534924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仓储/物流/咨询费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589788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77258" y="470916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7258" y="4709160"/>
            <a:ext cx="73152" cy="15087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7258" y="4709160"/>
            <a:ext cx="3637178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7258" y="47091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违约金账户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60138" y="534924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违约扣款与赔付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277258" y="589788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7317" y="4709160"/>
            <a:ext cx="363717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97317" y="470916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97317" y="4709160"/>
            <a:ext cx="363717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7317" y="47091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融资账户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80197" y="5349240"/>
            <a:ext cx="327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供应链金融资金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97317" y="5897880"/>
            <a:ext cx="3637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 与主账户联动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66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资金结算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多渠道支付与对账能力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▎支付渠道矩阵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48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银行直连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与中农工建交招等 10+ 银行直连，支持对公/对私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548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第三方支付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微信支付、支付宝、银联在线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548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跨境支付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支持美元、欧元、港币结算；SWIFT/人民币跨境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548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信用证/票据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电子信用证、银行承兑汇票、商业承兑汇票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00600"/>
            <a:ext cx="5486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800600"/>
            <a:ext cx="73152" cy="6858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937760"/>
            <a:ext cx="411480" cy="4114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4846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平台余额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" y="5120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账户余额直接扣划，无手续费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▎自动对账与清结算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1691640"/>
            <a:ext cx="5349240" cy="393192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1691640"/>
            <a:ext cx="73152" cy="393192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8288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日终自动对账：平台流水与银行流水逐笔匹配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差异交易自动标记 → 人工补单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T+0/T+1/T+N 结算周期可按业务配置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分账规则引擎：按合同自动分配多方资金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对账单下载：日结/月结/自定义周期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税务对接：增值税专票/普票自动开具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结算报表：分客户、分品类、分时段统计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审计追溯：每笔结算可追溯到原始订单/合同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852160"/>
            <a:ext cx="11277295" cy="548640"/>
          </a:xfrm>
          <a:prstGeom prst="rect">
            <a:avLst/>
          </a:prstGeom>
          <a:solidFill>
            <a:srgbClr val="0E3B7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对账成功率 99.95%   ·   平均结算延迟 &lt; 30min   ·   资金差错率 &lt; 0.001%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66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风险管控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Control · 全流程风控中心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08 · 风险管控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全流程风控中心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贯穿"事前 / 事中 / 事后"的三段式风控体系，覆盖交易全链路。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4663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363717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83080"/>
            <a:ext cx="363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63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317997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客户准入审核（资质/信用/历史）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禁止名单校验（黑产、监管）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KYC 分级与额度授信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合同条款风险评估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7258" y="173736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7258" y="1737360"/>
            <a:ext cx="73152" cy="46634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7258" y="1737360"/>
            <a:ext cx="3637178" cy="9144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7258" y="1783080"/>
            <a:ext cx="363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77258" y="2240280"/>
            <a:ext cx="363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事中监控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5858" y="2788920"/>
            <a:ext cx="317997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实时监控大额/频繁/异常下单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价格异动告警 + 自动拦截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撤销率预警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净敞口实时计算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保证金追缴触发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1737360"/>
            <a:ext cx="363717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317" y="1737360"/>
            <a:ext cx="73152" cy="46634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317" y="1737360"/>
            <a:ext cx="3637178" cy="9144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7317" y="1783080"/>
            <a:ext cx="363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097317" y="2240280"/>
            <a:ext cx="3637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事后追溯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5917" y="2788920"/>
            <a:ext cx="317997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审计日志全记录（保存 180 天+）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合规报表自动生成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监管报送数据接口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违规事件处置与复盘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风控模型自学习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66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08 · 风险管控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风控指标体系详解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2402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3637178" cy="45720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信用风险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客户违约不付款、合同不履行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8036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12724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授信额度 · 履约率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7258" y="137160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7258" y="1371600"/>
            <a:ext cx="73152" cy="22402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7258" y="1371600"/>
            <a:ext cx="3637178" cy="457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0138" y="13716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市场风险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5858" y="196596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价格波动 / 汇率波动 / 利率波动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05858" y="283464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5858" y="288036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5858" y="312724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· 净敞口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97317" y="137160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7317" y="1371600"/>
            <a:ext cx="73152" cy="2240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7317" y="1371600"/>
            <a:ext cx="363717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80197" y="137160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5917" y="196596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系统故障、人为失误、流程缺陷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5917" y="283464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5917" y="288036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5917" y="312724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故障率 · 投诉率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794760"/>
            <a:ext cx="73152" cy="2240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94760"/>
            <a:ext cx="363717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947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流动性风险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38912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资金周转不灵、保证金不足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525780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0352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55040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流动性覆盖率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277258" y="379476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77258" y="3794760"/>
            <a:ext cx="73152" cy="224028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7258" y="3794760"/>
            <a:ext cx="3637178" cy="457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60138" y="37947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05858" y="438912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监管处罚、法律纠纷、税务合规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05858" y="525780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05858" y="530352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05858" y="555040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合规事件数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7317" y="3794760"/>
            <a:ext cx="363717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97317" y="3794760"/>
            <a:ext cx="73152" cy="2240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7317" y="3794760"/>
            <a:ext cx="363717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80197" y="379476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325917" y="4389120"/>
            <a:ext cx="317997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DDoS、数据泄露、系统可用性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25917" y="5257800"/>
            <a:ext cx="3179978" cy="64008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5917" y="5303520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监测指标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325917" y="5550408"/>
            <a:ext cx="317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可用率 · SLA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" y="6263640"/>
            <a:ext cx="11277295" cy="137160"/>
          </a:xfrm>
          <a:prstGeom prst="rect">
            <a:avLst/>
          </a:prstGeom>
          <a:solidFill>
            <a:srgbClr val="D72638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66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Warehouse Service · IoT 智能仓储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09 · 仓储服务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智能仓储体系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通过物联网传感设备实时采集仓储数据，与平台订单联动，形成"数字孪生仓库"。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温湿度传感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 实时采集，超阈值告警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7258" y="169164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7258" y="169164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0138" y="196596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013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237378" y="19202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重量传感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7378" y="233172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货物重量动态监控，防止亏重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169164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317" y="169164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0197" y="196596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0197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057437" y="192024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7437" y="233172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识别异常行为（闯入/烟雾）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0896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417320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智能门禁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374904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RFID + 人脸 + 权限组合验证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7258" y="310896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7258" y="310896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0138" y="33832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0138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5237378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车辆识别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7378" y="374904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车牌识别 + 装卸状态联动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97317" y="3108960"/>
            <a:ext cx="363717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7317" y="3108960"/>
            <a:ext cx="73152" cy="1280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0197" y="338328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0197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烟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9057437" y="333756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消防传感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057437" y="3749040"/>
            <a:ext cx="253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烟感、温感、灭火系统联动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572000"/>
            <a:ext cx="73152" cy="182880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仓储数字化平台能力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" y="50292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多仓协同：总部 + 区域仓 + 港口仓 + 海外仓统一管理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电子仓单：区块链存证，可拆分、可转让、可质押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货位管理：立体仓库按库位/批号精细管理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作业效率：移动作业 APP，电子单据无纸化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库存准确率：99.99% (IoT 实时对账)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预警体系：温度超限、库存超期、临近保质期均可预警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66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09 · 仓储服务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电子仓单与库存管理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▎电子仓单生命周期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282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入库签发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17282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货物入库后生成电子仓单；记录品名/规格/数量/库位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054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上链存证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25054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关键信息写入区块链，不可篡改、可追溯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82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拆分/合并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32826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支持按比例拆分，满足部分交易/质押场景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2336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转让交割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订单成交后仓单自动转移给买方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80060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371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质押融资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65960" y="48371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与供应链金融联动，作为融资担保物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5486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577840"/>
            <a:ext cx="73152" cy="713232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144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注销出库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65960" y="56144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货物出库时仓单同步注销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▎库存管理关键能力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0" y="169164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169164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728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多级库存模型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92440" y="17282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总仓-区域仓-门店仓-在途库存联动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246888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46888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5054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安全库存预警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92440" y="25054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上下限动态计算 + 自动补货建议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24612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324612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282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效期管理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092440" y="32826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FIFO/FEFO 拣货规则；近效期优先预警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402336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402336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4059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盘点与对账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92440" y="4059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盲盘/复盘/随机盘三种模式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480060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480060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8371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移仓调拨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092440" y="48371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跨仓库调拨任务自动生成与跟踪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0" y="5577840"/>
            <a:ext cx="5349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5577840"/>
            <a:ext cx="73152" cy="71323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5614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报表分析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092440" y="56144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库存周转率 / 呆滞料分析 / ABC 分析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66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Supply Chain Finance · 嵌入式金融产品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10 · 供应链金融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以真实贸易背景为前提，将金融服务嵌入交易全链路；资金在平台内封闭运行。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463040" y="19659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应收账款融资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基于真实应收账款转让融资；债权清晰、风险可控；放款快、随借随还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7258" y="16916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7258" y="1691640"/>
            <a:ext cx="73152" cy="21945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5858" y="1920240"/>
            <a:ext cx="640080" cy="6400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585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283098" y="19659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订单融资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5858" y="269748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凭订单融资备货；按订单进度放款；订单回款直接偿还融资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317" y="16916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7317" y="1691640"/>
            <a:ext cx="73152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5917" y="19202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5917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103157" y="19659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仓单质押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5917" y="269748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电子仓单作为质押物；区块链存证；可部分解押滚动融资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69080"/>
            <a:ext cx="73152" cy="2194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1463040" y="43434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预付款融资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507492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下游买方预付货款融资；定向支付给上游卖方；还款来源明确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7258" y="40690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7258" y="406908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05858" y="429768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5858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5283098" y="43434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保理业务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05858" y="507492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应收账款保理（明保理/暗保理）；债权转让通知；保理商追索权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97317" y="40690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7317" y="4069080"/>
            <a:ext cx="73152" cy="2194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5917" y="42976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5917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9103157" y="43434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信用贷款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5917" y="5074920"/>
            <a:ext cx="317997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纯信用小额贷款；基于平台交易数据；自动化审批；秒批秒贷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66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10 · 供应链金融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风控联动与资金闭环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金融不是孤岛，而是与交易、仓储、风控三位一体的有机整体。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8686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联动交易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基于真实订单、合同、仓单放款，杜绝虚假贸易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73152" cy="8686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联动仓储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质押货物实时监控；价格下跌自动预警补缴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73152" cy="8686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01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联动风控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融资后客户行为持续监控；违约自动冻结账户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72000"/>
            <a:ext cx="73152" cy="86868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联动结算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回款资金自动分配偿还融资；差额部分自动划扣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1691640"/>
            <a:ext cx="5349240" cy="461772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1691640"/>
            <a:ext cx="73152" cy="46177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资金闭环示意图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66560" y="2240280"/>
            <a:ext cx="4663440" cy="7772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2240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资金方 / 银行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8240" y="301752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66560" y="3063240"/>
            <a:ext cx="4663440" cy="77724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平台金融账户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78240" y="384048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66560" y="3886200"/>
            <a:ext cx="466344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886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客户融资账户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778240" y="466344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766560" y="4709160"/>
            <a:ext cx="4663440" cy="7772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交易付款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778240" y="548640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766560" y="5532120"/>
            <a:ext cx="4663440" cy="7772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5532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回款入账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1384280" y="2606040"/>
            <a:ext cx="0" cy="3154680"/>
          </a:xfrm>
          <a:prstGeom prst="line">
            <a:avLst/>
          </a:prstGeom>
          <a:noFill/>
          <a:ln w="19050">
            <a:solidFill>
              <a:srgbClr val="D72638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9098280" y="2240280"/>
            <a:ext cx="2286000" cy="0"/>
          </a:xfrm>
          <a:prstGeom prst="line">
            <a:avLst/>
          </a:prstGeom>
          <a:noFill/>
          <a:ln w="19050">
            <a:solidFill>
              <a:srgbClr val="D72638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1051560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资金闭环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66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Empowerment · 六模块嵌入全流程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11 · AI 赋能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全流程嵌入全景图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 AI 智能模块贯穿：商品发布 → 商机管理 → 订单监管 → 合同办理 → 待办提醒 → 信息管理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4055" y="187452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4055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一键发布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粘贴信息 / 上传图片 → 自动解析发布；同步抖音/企微等外部平台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54453" y="22402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1036" y="1874520"/>
            <a:ext cx="914400" cy="91440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103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364181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无限商机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09901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智能检索推荐商品；对比意向客户；从第三方平台抓取商机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1434" y="22402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8017" y="1874520"/>
            <a:ext cx="914400" cy="91440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8017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271162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订单秘书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16882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自动签约；多维度分析（价格/时间/供应商/交货地）；变更跟踪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8416" y="22402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14998" y="18745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499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78144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合同卫士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23864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合同审批/版本比对/履约跟踪/电子存证/物流核查/成本核算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75397" y="22402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21979" y="1874520"/>
            <a:ext cx="914400" cy="91440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1979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085125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待办管家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0845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待办自动分类（自动办理/手动确认）；风险预警；业务待审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82378" y="22402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428961" y="187452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8961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9992106" y="2926080"/>
            <a:ext cx="17881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融聚通伴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37826" y="3337560"/>
            <a:ext cx="169666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客户间互联互通；知识库/CRM；资讯信息库；售后客服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166360"/>
            <a:ext cx="11277295" cy="1280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166360"/>
            <a:ext cx="73152" cy="128016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核心技术与能力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" y="562356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NLP 引擎：解析商品标题、合同文本，自动抽取关键信息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图像识别：OCR + 视觉模型，识别报价单、合同、质检单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推荐引擎：协同过滤 + 深度学习，个性化推荐商品与商机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预测模型：时序 + 回归，预测价格走势、需求波动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 知识图谱：行业实体关系推理，挖掘隐藏风险与机会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66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11 · AI 赋能 (一)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一键发布 · 订单秘书 · 待办管家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5029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7149" y="1691640"/>
            <a:ext cx="1097280" cy="10972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7149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一键发布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粘贴商品信息一键发布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上传报价图片自动解析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对接第三方平台秒级发布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 / 抖音同步发布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发布效果数据分析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商品描述智能优化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7258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258" y="1371600"/>
            <a:ext cx="73152" cy="5029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7208" y="1691640"/>
            <a:ext cx="1097280" cy="10972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7208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277258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订单秘书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1578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订单自动签约（标准条款）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价格/时间/供应商多维分析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交货地智能调度建议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订单变更全链路跟踪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异常订单主动通知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订单预测与备货建议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7317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1371600"/>
            <a:ext cx="73152" cy="50292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67266" y="1691640"/>
            <a:ext cx="1097280" cy="10972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7266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097317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待办管家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71637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待办自动分类与优先级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自动办理：调价 / 议价 / 成交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手动确认：合同签订 / 大额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风险预警主动通知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业务待审集中处理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待办统计与效率分析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66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11 · AI 赋能 (二)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无限商机 · 合同卫士 · 融聚通伴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50292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7149" y="1691640"/>
            <a:ext cx="1097280" cy="109728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7149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无限商机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智能检索全网商品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个性化推荐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对比意向客户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定向发送订单（采购商/供应商）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从第三方平台抓取商机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客户兴趣标签与商机匹配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7258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258" y="1371600"/>
            <a:ext cx="73152" cy="5029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47208" y="1691640"/>
            <a:ext cx="1097280" cy="1097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7208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277258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合同卫士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51578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合同审批流程自动化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合同版本对比与核对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合同履约跟踪与提醒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合同纠纷电子存证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物流全程核查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成本自动核算与风险判断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7317" y="1371600"/>
            <a:ext cx="3637178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1371600"/>
            <a:ext cx="73152" cy="5029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67266" y="1691640"/>
            <a:ext cx="1097280" cy="10972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7266" y="1691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097317" y="288036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融聚通伴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71637" y="3474720"/>
            <a:ext cx="308853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客户间互联互通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知识库智能问答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客户关系管理 (CRM)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行业资讯/研报聚合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海损信息库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售后服务自动化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66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11 · AI 赋能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智能化效果与 ROI 衡量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能力的真正价值在于"业务指标的可量化提升"。以下是典型场景的预期收益。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1874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商品发布效率提升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7258" y="169164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7258" y="1691640"/>
            <a:ext cx="73152" cy="18745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7258" y="196596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277258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订单处理人力节省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7317" y="169164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7317" y="1691640"/>
            <a:ext cx="73152" cy="18745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7317" y="196596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5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8097317" y="301752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合同审批加速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033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商机转化提升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77258" y="370332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7258" y="3703320"/>
            <a:ext cx="73152" cy="18745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7258" y="39776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4277258" y="502920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客户满意度提升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7317" y="3703320"/>
            <a:ext cx="363717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7317" y="3703320"/>
            <a:ext cx="73152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7317" y="3977640"/>
            <a:ext cx="363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7200" dirty="0"/>
          </a:p>
        </p:txBody>
      </p:sp>
      <p:sp>
        <p:nvSpPr>
          <p:cNvPr id="32" name="Text 30"/>
          <p:cNvSpPr/>
          <p:nvPr/>
        </p:nvSpPr>
        <p:spPr>
          <a:xfrm>
            <a:off x="8097317" y="5029200"/>
            <a:ext cx="363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违约率下降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E3B7C"/>
          </a:solidFill>
          <a:ln w="12700">
            <a:solidFill>
              <a:srgbClr val="0E3B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实施建议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分阶段落地：先"一键发布 + 待办管家"见效快 → 再"无限商机 + 订单秘书"提升转化 → 后"合同卫士 + 融聚通伴"深耕风控与服务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66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— 上海石油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 · 行业头部客户落地实践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12 · 上海石油案例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455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463040" y="16459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客户概况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499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上海石油是能源贸易领域的标杆企业，业务涵盖成品油、燃料油、化工原料等的采购、销售与储运，年交易额数百亿元。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1371600"/>
            <a:ext cx="5455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137160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4448" y="160020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444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101688" y="16459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业务痛点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24448" y="2377440"/>
            <a:ext cx="499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原有线下交易模式效率低、信息不透明、风控难、融资难；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1) 交易撮合主要靠电话、邮件，效率低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2) 上下游协同差，订单状态难追踪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3) 缺乏有效的价格风险对冲工具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4) 中小企业客户难以获得合规融资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455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3192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16052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1463040" y="42062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4937760"/>
            <a:ext cx="499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ZDINFO D03 全功能模块 + 能源行业垂直定制，包括：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挂牌+点价+基差三大模式覆盖能源交易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期现联动实现套保对冲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接入 5+ 家期货行情源实时同步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供应链金融解决中小客户融资需求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移动端 + 多租户支撑集团化运营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5848" y="3931920"/>
            <a:ext cx="5455768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5848" y="393192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4448" y="4160520"/>
            <a:ext cx="640080" cy="640080"/>
          </a:xfrm>
          <a:prstGeom prst="ellipse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4448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101688" y="42062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24448" y="4937760"/>
            <a:ext cx="499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2023.Q3 启动 → 2024.Q1 全模块上线 → 2024.Q4 阶段二 (金融模块) 上线 → 2025 持续迭代与生态扩展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66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12 · 上海石油案例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平台落地应用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▎落地模块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基础平台：开户/登录/账户管理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交易业务：挂牌+点价+基差+代采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交收办理：电子合同+履约金+货权转移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资金结算：T+1 自动结算+银企直连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风险管控：实时敞口监控+套保账户联动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仓储服务：自有 + 第三方仓库接入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供应链金融：仓单质押+订单融资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赋能：合同卫士+订单秘书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▎能源行业定制能力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49240" cy="4709160"/>
          </a:xfrm>
          <a:prstGeom prst="rect">
            <a:avLst/>
          </a:prstGeom>
          <a:solidFill>
            <a:srgbClr val="F4F8F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91640"/>
            <a:ext cx="73152" cy="4709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能源品类管理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原油 / 成品油 / 燃料油 / 化工品的特殊属性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能源行情终端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专业版 K 线、分时、盘口；对接 NYMEX、ICE、INE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期现联动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与中信、东证等期货公司系统对接；套保策略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安监合规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危化品资质校验、储运合规、税务合规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多语言支持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9244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中英文双语；适配国际化交易需求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800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集团化运营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4800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多租户架构，支持分子公司独立运营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5394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生态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9244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100+ API，对接 ERP/CRM/TMS/银行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/ 66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12 · 上海石油案例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实施效果 · 关键指标对比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32004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上线前 (传统模式)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上线后 (平台模式)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撮合效率 (每笔)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 4-8 小时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 5-15 分钟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 95% 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订单追踪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人工跟进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实时透明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全可视化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 (活跃)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 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~500+ 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150%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交易频次 (月均)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~500 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~3000 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500%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融资客户比例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5x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违约率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0.5%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 83%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客户满意度 (NPS)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 34 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人工处理成本 (年)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¥1200 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 ¥600 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 50%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943600"/>
            <a:ext cx="11277295" cy="502920"/>
          </a:xfrm>
          <a:prstGeom prst="rect">
            <a:avLst/>
          </a:prstGeom>
          <a:solidFill>
            <a:srgbClr val="0E3B7C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9436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客户评价：平台不只是工具，更是面向能源行业的产业互联网新基建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66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14255" y="457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0+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专业交易终端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Trading Terminal · 面向专业交易员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30352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专业交易终端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产品定位与目标用户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为机构投资者、专业交易员、操盘手提供的桌面级专业终端，支持多窗口、深度行情、快捷键交易。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37360"/>
            <a:ext cx="73152" cy="466344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486400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机构客户：基金、信托、私募等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专业交易员：能源/化工/有色专业操盘手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产业链企业：上游生产商、下游加工企业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贸易商：大宗商品贸易公司、进出口商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期货风险管理子公司：套保交易员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737360"/>
            <a:ext cx="73152" cy="46634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37744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专业级行情：盘口、深度、K线、分时、闪电图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极速交易：毫秒级延迟，键盘侠级别的快捷键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高级订单：FAK/FOK/IOC/冰山/隐藏单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多账户管理：一键切换多账户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策略交易：条件单、止损单、追价单、网格交易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风控可视化：实时敞口、风险指标、阈值告警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66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专业交易终端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核心特性矩阵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2727884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极速行情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01168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TCP 长连接，行情延迟 &lt; 50ms；支持 Level-2 深度行情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03956" y="137160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3956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3956" y="1371600"/>
            <a:ext cx="2727884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6836" y="13716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多窗口布局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86836" y="201168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工作区可保存多套；自定义拖拽；双屏/三屏支持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50712" y="137160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0712" y="137160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0712" y="1371600"/>
            <a:ext cx="2727884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3592" y="13716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快捷键体系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3592" y="201168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快捷键；可自定义；遵循业内标准（F1 下单、F2 撤单等）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97467" y="137160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7467" y="1371600"/>
            <a:ext cx="73152" cy="242316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467" y="1371600"/>
            <a:ext cx="2727884" cy="5029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0347" y="13716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高级订单类型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0347" y="201168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限价/市价/止损/止盈/冰山/隐藏/跟踪；批量下单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73152" cy="242316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931920"/>
            <a:ext cx="2727884" cy="5029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93192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策略交易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条件单/网格交易/算法交易；回测与模拟盘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03956" y="393192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03956" y="3931920"/>
            <a:ext cx="73152" cy="24231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03956" y="3931920"/>
            <a:ext cx="2727884" cy="50292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6836" y="393192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风控告警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86836" y="457200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实时敞口计算；阈值告警；硬风控拦截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50712" y="393192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0712" y="3931920"/>
            <a:ext cx="73152" cy="2423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50712" y="3931920"/>
            <a:ext cx="272788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3592" y="393192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33592" y="457200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CSV/Excel/JSON；自选数据订阅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997467" y="3931920"/>
            <a:ext cx="2727884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97467" y="3931920"/>
            <a:ext cx="73152" cy="2423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97467" y="3931920"/>
            <a:ext cx="272788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0347" y="393192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接入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80347" y="4572000"/>
            <a:ext cx="23621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 C++/Python/Java SDK；FIX 4.4 协议对接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/ 66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专业交易终端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应用场景与价值落地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45576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331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544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能源贸易商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日均交易 50+ 笔，需快速下单与多账户并行；终端的快捷键和高级订单类型使日处理效率提升 70%。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4998568" cy="4114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5468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日均处理 50+ 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48" y="1371600"/>
            <a:ext cx="545576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1371600"/>
            <a:ext cx="73152" cy="2331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155448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套保交易员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4448" y="214884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需实时盯盘 + 套保账户联动；终端的敞口可视化和策略交易让风险管理更加直观。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24448" y="3154680"/>
            <a:ext cx="4998568" cy="4114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48" y="315468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敞口可视化 + 套保联动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45576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2331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大型贸易集团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461772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多子公司、多账户管理需求；终端的多账户管理与权限隔离让集团化运营更高效。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4998568" cy="4114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62356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多账户管理 + 权限隔离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95848" y="3840480"/>
            <a:ext cx="545576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5848" y="3840480"/>
            <a:ext cx="73152" cy="2331720"/>
          </a:xfrm>
          <a:prstGeom prst="rect">
            <a:avLst/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4448" y="4023360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高频交易机构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24448" y="461772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对延迟极其敏感；终端的低延迟通信 (原生 TCP) 与本地化部署满足高频需求。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24448" y="5623560"/>
            <a:ext cx="4998568" cy="41148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4448" y="562356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50ms 延迟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/ 66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4864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5B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平台优势总结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362895" y="384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7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76656"/>
            <a:ext cx="1463040" cy="36576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17373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全链路闭环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5146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注册→交易→交收→结算→金融，单平台完成业务全周期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7258" y="14630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7258" y="146304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5858" y="169164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5858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283098" y="17373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模式丰富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05858" y="25146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七大交易模式覆盖现货/远期/期现联动各类场景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7317" y="146304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7317" y="146304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5917" y="169164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5917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03157" y="173736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高性能核心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5917" y="251460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语言撮合+内存处理，行业领先性能与稳定性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06908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463040" y="41148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全嵌入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48920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 AI 模块贯穿全流程，效率提升 40%-85%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77258" y="38404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7258" y="384048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5858" y="406908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5858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283098" y="41148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生态完整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05858" y="48920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与仓储/物流/银行/期货/税务/SaaS 深度对接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7317" y="3840480"/>
            <a:ext cx="363717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7317" y="3840480"/>
            <a:ext cx="73152" cy="2194560"/>
          </a:xfrm>
          <a:prstGeom prst="rect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5917" y="4069080"/>
            <a:ext cx="640080" cy="64008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5917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103157" y="4114800"/>
            <a:ext cx="2448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行业实践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25917" y="48920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上海石油等头部客户验证，能源/化工/有色落地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6309360"/>
            <a:ext cx="11277295" cy="137160"/>
          </a:xfrm>
          <a:prstGeom prst="rect">
            <a:avLst/>
          </a:prstGeom>
          <a:solidFill>
            <a:srgbClr val="D72638"/>
          </a:solidFill>
          <a:ln w="9525">
            <a:solidFill>
              <a:srgbClr val="D6E2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/ 66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E3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-2743200"/>
            <a:ext cx="10972800" cy="10972800"/>
          </a:xfrm>
          <a:prstGeom prst="ellipse">
            <a:avLst/>
          </a:prstGeom>
          <a:solidFill>
            <a:srgbClr val="D72638"/>
          </a:solidFill>
          <a:ln w="12700">
            <a:solidFill>
              <a:srgbClr val="D726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914400"/>
            <a:ext cx="7315200" cy="7315200"/>
          </a:xfrm>
          <a:prstGeom prst="ellipse">
            <a:avLst/>
          </a:prstGeom>
          <a:solidFill>
            <a:srgbClr val="08295A"/>
          </a:solidFill>
          <a:ln w="12700">
            <a:solidFill>
              <a:srgbClr val="082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200" kern="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0"/>
            <a:ext cx="1828800" cy="0"/>
          </a:xfrm>
          <a:prstGeom prst="line">
            <a:avLst/>
          </a:prstGeom>
          <a:noFill/>
          <a:ln w="38100">
            <a:solidFill>
              <a:srgbClr val="D726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1600" kern="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5695" y="457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ZDINFO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565392"/>
            <a:ext cx="11277295" cy="0"/>
          </a:xfrm>
          <a:prstGeom prst="line">
            <a:avLst/>
          </a:prstGeom>
          <a:noFill/>
          <a:ln w="9525">
            <a:solidFill>
              <a:srgbClr val="D6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郑州大宗商品信息技术有限公司 · ZDINFO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8655" y="66019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/ 66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ZDINFO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数字产业链服务平台系统汇报</dc:title>
  <dc:subject>数字产业链服务平台</dc:subject>
  <dc:creator>郑州大宗商品信息技术有限公司</dc:creator>
  <cp:lastModifiedBy>郑州大宗商品信息技术有限公司</cp:lastModifiedBy>
  <cp:revision>1</cp:revision>
  <dcterms:created xsi:type="dcterms:W3CDTF">2026-07-24T05:45:52Z</dcterms:created>
  <dcterms:modified xsi:type="dcterms:W3CDTF">2026-07-24T05:45:52Z</dcterms:modified>
</cp:coreProperties>
</file>